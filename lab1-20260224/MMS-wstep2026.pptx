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75" r:id="rId5"/>
    <p:sldId id="272" r:id="rId6"/>
    <p:sldId id="274" r:id="rId7"/>
    <p:sldId id="273" r:id="rId8"/>
    <p:sldId id="258" r:id="rId9"/>
    <p:sldId id="265" r:id="rId10"/>
    <p:sldId id="266" r:id="rId11"/>
    <p:sldId id="259" r:id="rId12"/>
    <p:sldId id="263" r:id="rId13"/>
    <p:sldId id="267" r:id="rId14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65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E9CA6-C3C6-4101-A70A-1F7681684354}" type="datetimeFigureOut">
              <a:rPr lang="pl-PL" smtClean="0"/>
              <a:pPr/>
              <a:t>23.02.2026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3DF7-BC3C-47D7-869A-639B04A2DA85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E9CA6-C3C6-4101-A70A-1F7681684354}" type="datetimeFigureOut">
              <a:rPr lang="pl-PL" smtClean="0"/>
              <a:pPr/>
              <a:t>23.02.2026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3DF7-BC3C-47D7-869A-639B04A2DA85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E9CA6-C3C6-4101-A70A-1F7681684354}" type="datetimeFigureOut">
              <a:rPr lang="pl-PL" smtClean="0"/>
              <a:pPr/>
              <a:t>23.02.2026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3DF7-BC3C-47D7-869A-639B04A2DA85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E9CA6-C3C6-4101-A70A-1F7681684354}" type="datetimeFigureOut">
              <a:rPr lang="pl-PL" smtClean="0"/>
              <a:pPr/>
              <a:t>23.02.2026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3DF7-BC3C-47D7-869A-639B04A2DA85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E9CA6-C3C6-4101-A70A-1F7681684354}" type="datetimeFigureOut">
              <a:rPr lang="pl-PL" smtClean="0"/>
              <a:pPr/>
              <a:t>23.02.2026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3DF7-BC3C-47D7-869A-639B04A2DA85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E9CA6-C3C6-4101-A70A-1F7681684354}" type="datetimeFigureOut">
              <a:rPr lang="pl-PL" smtClean="0"/>
              <a:pPr/>
              <a:t>23.02.2026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3DF7-BC3C-47D7-869A-639B04A2DA85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E9CA6-C3C6-4101-A70A-1F7681684354}" type="datetimeFigureOut">
              <a:rPr lang="pl-PL" smtClean="0"/>
              <a:pPr/>
              <a:t>23.02.2026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3DF7-BC3C-47D7-869A-639B04A2DA85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E9CA6-C3C6-4101-A70A-1F7681684354}" type="datetimeFigureOut">
              <a:rPr lang="pl-PL" smtClean="0"/>
              <a:pPr/>
              <a:t>23.02.2026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3DF7-BC3C-47D7-869A-639B04A2DA85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E9CA6-C3C6-4101-A70A-1F7681684354}" type="datetimeFigureOut">
              <a:rPr lang="pl-PL" smtClean="0"/>
              <a:pPr/>
              <a:t>23.02.2026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3DF7-BC3C-47D7-869A-639B04A2DA85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E9CA6-C3C6-4101-A70A-1F7681684354}" type="datetimeFigureOut">
              <a:rPr lang="pl-PL" smtClean="0"/>
              <a:pPr/>
              <a:t>23.02.2026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3DF7-BC3C-47D7-869A-639B04A2DA85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E9CA6-C3C6-4101-A70A-1F7681684354}" type="datetimeFigureOut">
              <a:rPr lang="pl-PL" smtClean="0"/>
              <a:pPr/>
              <a:t>23.02.2026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3DF7-BC3C-47D7-869A-639B04A2DA85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E9CA6-C3C6-4101-A70A-1F7681684354}" type="datetimeFigureOut">
              <a:rPr lang="pl-PL" smtClean="0"/>
              <a:pPr/>
              <a:t>23.02.2026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993DF7-BC3C-47D7-869A-639B04A2DA85}" type="slidenum">
              <a:rPr lang="pl-PL" smtClean="0"/>
              <a:pPr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b="1"/>
              <a:t>MATEMATYCZNE MODELOWANIE SYSTEMÓW</a:t>
            </a:r>
            <a:endParaRPr lang="pl-PL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dr Bożena Staruch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Informacje ogólne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endParaRPr lang="pl-PL" dirty="0"/>
          </a:p>
          <a:p>
            <a:r>
              <a:rPr lang="pl-PL" dirty="0"/>
              <a:t>15 godz. Wykładu – 7 tygodni według harmonogramu + 1 godzina na konsultacje przed testem egzaminacyjnym na koniec semestru.</a:t>
            </a:r>
          </a:p>
          <a:p>
            <a:r>
              <a:rPr lang="pl-PL" dirty="0"/>
              <a:t>30 godz. Ćwiczeń</a:t>
            </a:r>
          </a:p>
          <a:p>
            <a:endParaRPr lang="pl-PL" dirty="0"/>
          </a:p>
          <a:p>
            <a:r>
              <a:rPr lang="pl-PL" dirty="0"/>
              <a:t>Liczba punktów </a:t>
            </a:r>
            <a:r>
              <a:rPr lang="pl-PL" b="1" dirty="0"/>
              <a:t>ECTS: 3</a:t>
            </a:r>
          </a:p>
          <a:p>
            <a:r>
              <a:rPr lang="pl-PL" dirty="0"/>
              <a:t>Sylabus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Komunikacja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 err="1"/>
              <a:t>MSTeams</a:t>
            </a:r>
            <a:r>
              <a:rPr lang="pl-PL" dirty="0"/>
              <a:t> </a:t>
            </a:r>
            <a:r>
              <a:rPr lang="pl-PL" b="1" i="0" dirty="0">
                <a:solidFill>
                  <a:srgbClr val="FF0000"/>
                </a:solidFill>
                <a:effectLst/>
                <a:latin typeface="-apple-system"/>
              </a:rPr>
              <a:t>v3tcxua</a:t>
            </a:r>
          </a:p>
          <a:p>
            <a:r>
              <a:rPr lang="pl-PL" dirty="0" err="1"/>
              <a:t>Moodle</a:t>
            </a:r>
            <a:r>
              <a:rPr lang="pl-PL" dirty="0"/>
              <a:t>:</a:t>
            </a:r>
          </a:p>
          <a:p>
            <a:pPr marL="0" indent="0">
              <a:buNone/>
            </a:pPr>
            <a:r>
              <a:rPr lang="pl-PL" b="1" dirty="0"/>
              <a:t>Matematyczne Modelowanie Systemów - stacjonarne 2026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/>
              <a:t>KURS </a:t>
            </a:r>
            <a:r>
              <a:rPr lang="pl-PL" b="1" dirty="0">
                <a:solidFill>
                  <a:srgbClr val="FF0000"/>
                </a:solidFill>
              </a:rPr>
              <a:t>MMS_S26</a:t>
            </a:r>
            <a:r>
              <a:rPr lang="pl-PL" dirty="0"/>
              <a:t>   hasło </a:t>
            </a:r>
            <a:r>
              <a:rPr lang="pl-PL" b="1" dirty="0">
                <a:solidFill>
                  <a:srgbClr val="FF0000"/>
                </a:solidFill>
              </a:rPr>
              <a:t>MMS_S26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9C370-0164-889A-D352-CE668057C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87C77D6-5536-B30C-F7F1-6F86DC05A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Komunikacja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1A45525-DF58-4E1F-3AE0-8750076FC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l-PL" dirty="0"/>
              <a:t>Konsultacje, po umówieniu się na czacie </a:t>
            </a:r>
            <a:r>
              <a:rPr lang="pl-PL" dirty="0" err="1"/>
              <a:t>MSTeams</a:t>
            </a:r>
            <a:r>
              <a:rPr lang="pl-PL" dirty="0"/>
              <a:t>, odbędą się stacjonarnie lub na platformie  </a:t>
            </a:r>
            <a:r>
              <a:rPr lang="pl-PL" dirty="0" err="1"/>
              <a:t>MSTeams</a:t>
            </a:r>
            <a:r>
              <a:rPr lang="pl-PL" dirty="0"/>
              <a:t>. </a:t>
            </a:r>
          </a:p>
          <a:p>
            <a:r>
              <a:rPr lang="pl-PL" dirty="0"/>
              <a:t>Ogłoszenia będą wstawiane na </a:t>
            </a:r>
            <a:r>
              <a:rPr lang="pl-PL" dirty="0" err="1"/>
              <a:t>Moodle</a:t>
            </a:r>
            <a:r>
              <a:rPr lang="pl-PL" dirty="0"/>
              <a:t> i </a:t>
            </a:r>
            <a:r>
              <a:rPr lang="pl-PL" dirty="0" err="1"/>
              <a:t>MSTeams</a:t>
            </a:r>
            <a:endParaRPr lang="pl-PL" dirty="0"/>
          </a:p>
          <a:p>
            <a:r>
              <a:rPr lang="pl-PL" dirty="0"/>
              <a:t>Zadania ćwiczeniowe i prezentacje z treścią wykładu będą podawane na platformie </a:t>
            </a:r>
            <a:r>
              <a:rPr lang="pl-PL" dirty="0" err="1"/>
              <a:t>Moodle</a:t>
            </a:r>
            <a:endParaRPr lang="pl-PL" dirty="0"/>
          </a:p>
          <a:p>
            <a:r>
              <a:rPr lang="pl-PL" dirty="0"/>
              <a:t>Sprawozdania i inne prace samodzielne będą wysyłane na platformę </a:t>
            </a:r>
            <a:r>
              <a:rPr lang="pl-PL" dirty="0" err="1"/>
              <a:t>Moodle</a:t>
            </a:r>
            <a:endParaRPr lang="pl-PL" dirty="0"/>
          </a:p>
          <a:p>
            <a:r>
              <a:rPr lang="pl-PL" dirty="0"/>
              <a:t>Egzamin w postaci testu na platformie </a:t>
            </a:r>
            <a:r>
              <a:rPr lang="pl-PL" dirty="0" err="1"/>
              <a:t>Moodle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47713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Zaliczenie przedmiotu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l-PL" dirty="0"/>
              <a:t>Ocena z ćwiczeń</a:t>
            </a:r>
          </a:p>
          <a:p>
            <a:pPr lvl="1"/>
            <a:r>
              <a:rPr lang="pl-PL" dirty="0"/>
              <a:t>Dopuszczalne są 2 nieobecności, każda dodatkowa nieobecność zmniejsza dorobek punktowy z ćwiczeń o 10%</a:t>
            </a:r>
          </a:p>
          <a:p>
            <a:pPr lvl="1"/>
            <a:r>
              <a:rPr lang="pl-PL" dirty="0"/>
              <a:t>Zadania ćwiczeniowe powinny być wykonane zgodnie z podanymi wymaganiami np. :</a:t>
            </a:r>
          </a:p>
          <a:p>
            <a:pPr marL="1371600" lvl="2" indent="-457200">
              <a:buFont typeface="+mj-lt"/>
              <a:buAutoNum type="arabicPeriod"/>
            </a:pPr>
            <a:r>
              <a:rPr lang="pl-PL" dirty="0"/>
              <a:t>Raport</a:t>
            </a:r>
          </a:p>
          <a:p>
            <a:pPr marL="1371600" lvl="2" indent="-457200">
              <a:buFont typeface="+mj-lt"/>
              <a:buAutoNum type="arabicPeriod"/>
            </a:pPr>
            <a:r>
              <a:rPr lang="pl-PL" dirty="0"/>
              <a:t>Wykonanie testu na </a:t>
            </a:r>
            <a:r>
              <a:rPr lang="pl-PL" dirty="0" err="1"/>
              <a:t>Moodle</a:t>
            </a:r>
            <a:endParaRPr lang="pl-PL" dirty="0"/>
          </a:p>
          <a:p>
            <a:pPr marL="1371600" lvl="2" indent="-457200">
              <a:buFont typeface="+mj-lt"/>
              <a:buAutoNum type="arabicPeriod"/>
            </a:pPr>
            <a:r>
              <a:rPr lang="pl-PL" dirty="0"/>
              <a:t>Plik Excel z obliczeniami lub kod </a:t>
            </a:r>
            <a:r>
              <a:rPr lang="pl-PL" dirty="0" err="1"/>
              <a:t>Pythona</a:t>
            </a:r>
            <a:r>
              <a:rPr lang="pl-PL" dirty="0"/>
              <a:t> (</a:t>
            </a:r>
            <a:r>
              <a:rPr lang="pl-PL" dirty="0" err="1"/>
              <a:t>Jupyter</a:t>
            </a:r>
            <a:r>
              <a:rPr lang="pl-PL" dirty="0"/>
              <a:t>)</a:t>
            </a:r>
          </a:p>
          <a:p>
            <a:pPr lvl="1"/>
            <a:r>
              <a:rPr lang="pl-PL" dirty="0"/>
              <a:t>Każde rozwiązanie jest oceniane do 100 pkt. Zadania mają termin. </a:t>
            </a:r>
          </a:p>
          <a:p>
            <a:pPr lvl="2"/>
            <a:r>
              <a:rPr lang="pl-PL" dirty="0"/>
              <a:t>Termin podstawowy – ocena do 100pkt.</a:t>
            </a:r>
          </a:p>
          <a:p>
            <a:pPr lvl="2"/>
            <a:r>
              <a:rPr lang="pl-PL" dirty="0"/>
              <a:t>Termin rozszerzony – ocena zmniejszona o 30%.</a:t>
            </a:r>
          </a:p>
          <a:p>
            <a:pPr lvl="2"/>
            <a:r>
              <a:rPr lang="pl-PL" dirty="0"/>
              <a:t>Poza terminem rozszerzonym – ocena wynosi 0.</a:t>
            </a:r>
          </a:p>
          <a:p>
            <a:pPr>
              <a:buNone/>
            </a:pPr>
            <a:endParaRPr lang="pl-PL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Zaliczenie przedmiotu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35280" cy="452596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pl-PL" dirty="0"/>
                  <a:t>Ocena projektu</a:t>
                </a:r>
              </a:p>
              <a:p>
                <a:pPr lvl="1"/>
                <a:r>
                  <a:rPr lang="pl-PL" dirty="0"/>
                  <a:t>Projekt wykonany w dwuosobowym zespole w oparciu o dane własne lub pobrane z repozytorium danych </a:t>
                </a:r>
              </a:p>
              <a:p>
                <a:pPr lvl="1"/>
                <a:r>
                  <a:rPr lang="pl-PL" dirty="0"/>
                  <a:t>Wymagania do projektu, termin oddania i kryteria oceny zostaną podane w czasie ćwiczeń</a:t>
                </a:r>
              </a:p>
              <a:p>
                <a:pPr lvl="1"/>
                <a:r>
                  <a:rPr lang="pl-PL" dirty="0"/>
                  <a:t>Aby zaliczyć projekt należy uzyskać co najmniej 55%</a:t>
                </a:r>
              </a:p>
              <a:p>
                <a:pPr>
                  <a:buNone/>
                </a:pPr>
                <a:endParaRPr lang="pl-PL" dirty="0"/>
              </a:p>
              <a:p>
                <a:pPr algn="ctr">
                  <a:buNone/>
                </a:pPr>
                <a:r>
                  <a:rPr lang="pl-PL" dirty="0"/>
                  <a:t>Ocena z ćwiczeń =</a:t>
                </a:r>
              </a:p>
              <a:p>
                <a:pPr algn="ctr">
                  <a:buNone/>
                </a:pPr>
                <a:r>
                  <a:rPr lang="pl-PL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l-PL" sz="3000" i="1" dirty="0">
                            <a:latin typeface="Cambria Math" panose="02040503050406030204" pitchFamily="18" charset="0"/>
                          </a:rPr>
                          <m:t>𝑝𝑟𝑜𝑐𝑒𝑛𝑡</m:t>
                        </m:r>
                        <m:r>
                          <a:rPr lang="pl-PL" sz="3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l-PL" sz="3000" b="0" i="1" dirty="0" smtClean="0">
                            <a:latin typeface="Cambria Math" panose="02040503050406030204" pitchFamily="18" charset="0"/>
                          </a:rPr>
                          <m:t>𝑢𝑧𝑦𝑠𝑘𝑎𝑛𝑦</m:t>
                        </m:r>
                        <m:r>
                          <a:rPr lang="pl-PL" sz="3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l-PL" sz="30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pl-PL" sz="3000" b="0" i="1" dirty="0" smtClean="0">
                            <a:latin typeface="Cambria Math" panose="02040503050406030204" pitchFamily="18" charset="0"/>
                          </a:rPr>
                          <m:t> ć</m:t>
                        </m:r>
                        <m:r>
                          <a:rPr lang="pl-PL" sz="3000" b="0" i="1" dirty="0" smtClean="0">
                            <a:latin typeface="Cambria Math" panose="02040503050406030204" pitchFamily="18" charset="0"/>
                          </a:rPr>
                          <m:t>𝑤𝑖𝑐𝑧𝑒</m:t>
                        </m:r>
                        <m:r>
                          <a:rPr lang="pl-PL" sz="3000" b="0" i="1" dirty="0" smtClean="0">
                            <a:latin typeface="Cambria Math" panose="02040503050406030204" pitchFamily="18" charset="0"/>
                          </a:rPr>
                          <m:t>ń</m:t>
                        </m:r>
                      </m:num>
                      <m:den>
                        <m:r>
                          <a:rPr lang="pl-PL" sz="3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pl-PL" sz="3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pl-PL" sz="3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l-PL" sz="3000" b="0" i="1" smtClean="0">
                            <a:latin typeface="Cambria Math" panose="02040503050406030204" pitchFamily="18" charset="0"/>
                          </a:rPr>
                          <m:t>2∗ </m:t>
                        </m:r>
                        <m:r>
                          <a:rPr lang="pl-PL" sz="3000" i="1" dirty="0">
                            <a:latin typeface="Cambria Math" panose="02040503050406030204" pitchFamily="18" charset="0"/>
                          </a:rPr>
                          <m:t>𝑝𝑟𝑜𝑐𝑒𝑛𝑡</m:t>
                        </m:r>
                        <m:r>
                          <a:rPr lang="pl-PL" sz="3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l-PL" sz="3000" i="1" dirty="0">
                            <a:latin typeface="Cambria Math" panose="02040503050406030204" pitchFamily="18" charset="0"/>
                          </a:rPr>
                          <m:t>𝑝𝑢𝑛𝑘𝑡𝑎𝑐𝑗𝑖</m:t>
                        </m:r>
                        <m:r>
                          <a:rPr lang="pl-PL" sz="3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l-PL" sz="3000" i="1" dirty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pl-PL" sz="3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l-PL" sz="3000" i="1" dirty="0">
                            <a:latin typeface="Cambria Math" panose="02040503050406030204" pitchFamily="18" charset="0"/>
                          </a:rPr>
                          <m:t>𝑝𝑟𝑜𝑗𝑒𝑘𝑡𝑢</m:t>
                        </m:r>
                      </m:num>
                      <m:den>
                        <m:r>
                          <a:rPr lang="pl-PL" sz="3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pl-PL" sz="3000" dirty="0"/>
              </a:p>
            </p:txBody>
          </p:sp>
        </mc:Choice>
        <mc:Fallback>
          <p:sp>
            <p:nvSpPr>
              <p:cNvPr id="3" name="Symbol zastępczy zawartości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35280" cy="4525963"/>
              </a:xfrm>
              <a:blipFill>
                <a:blip r:embed="rId2"/>
                <a:stretch>
                  <a:fillRect l="-1445" t="-269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3884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Zaliczenie przedmiotu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200" y="1449132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pl-PL" dirty="0"/>
              <a:t>Przedmiot kończy się egzaminem. </a:t>
            </a:r>
            <a:r>
              <a:rPr lang="pl-PL" b="1" dirty="0">
                <a:solidFill>
                  <a:srgbClr val="FF0000"/>
                </a:solidFill>
              </a:rPr>
              <a:t>Nie ma zwolnień z egzaminu.</a:t>
            </a:r>
          </a:p>
          <a:p>
            <a:pPr marL="0" indent="0">
              <a:buNone/>
            </a:pPr>
            <a:r>
              <a:rPr lang="pl-PL" dirty="0"/>
              <a:t>Egzamin: w formie testowej sprawdzający wiedzę i umiejętności związane z przygotowaniem danych, modelowaniem i wykorzystaniem modelu. </a:t>
            </a:r>
          </a:p>
          <a:p>
            <a:r>
              <a:rPr lang="pl-PL" dirty="0"/>
              <a:t>Test na platformie </a:t>
            </a:r>
            <a:r>
              <a:rPr lang="pl-PL" dirty="0" err="1"/>
              <a:t>Moodle</a:t>
            </a:r>
            <a:r>
              <a:rPr lang="pl-PL" dirty="0"/>
              <a:t>. </a:t>
            </a:r>
          </a:p>
          <a:p>
            <a:r>
              <a:rPr lang="pl-PL" dirty="0"/>
              <a:t>Test musi być zaliczony na co najmniej 50%.</a:t>
            </a:r>
          </a:p>
          <a:p>
            <a:r>
              <a:rPr lang="pl-PL" dirty="0"/>
              <a:t>Końcowa ocena stanowi średnią oceny z ćwiczeń i testu.</a:t>
            </a:r>
          </a:p>
          <a:p>
            <a:pPr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37756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TREŚCI WYKŁADÓW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/>
              <a:t>Celem zajęć jest wprowadzenie w problematykę modelowania matematycznego, między innymi: </a:t>
            </a:r>
          </a:p>
          <a:p>
            <a:pPr lvl="1"/>
            <a:r>
              <a:rPr lang="pl-PL" dirty="0"/>
              <a:t>Paradygmat podejścia systemowego i ogólny schemat modelowania systemów. Modelowanie matematyczne. Ocena modelu. Identyfikacja modelu. </a:t>
            </a:r>
          </a:p>
          <a:p>
            <a:r>
              <a:rPr lang="pl-PL" dirty="0"/>
              <a:t>Statystyka i eksploracja danych jako narzędzie badania danych w celu identyfikacji modelu. 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Powiększenie slajdu 4">
                <a:extLst>
                  <a:ext uri="{FF2B5EF4-FFF2-40B4-BE49-F238E27FC236}">
                    <a16:creationId xmlns:a16="http://schemas.microsoft.com/office/drawing/2014/main" id="{886211BB-0827-44FA-ADED-A1780B896A1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90575049"/>
                  </p:ext>
                </p:extLst>
              </p:nvPr>
            </p:nvGraphicFramePr>
            <p:xfrm>
              <a:off x="-1224023" y="4231317"/>
              <a:ext cx="2286000" cy="1714500"/>
            </p:xfrm>
            <a:graphic>
              <a:graphicData uri="http://schemas.microsoft.com/office/powerpoint/2016/slidezoom">
                <pslz:sldZm>
                  <pslz:sldZmObj sldId="258" cId="0">
                    <pslz:zmPr id="{383EB438-4AFC-466B-ADA4-B8A95AE2EC7C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Powiększenie slajdu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886211BB-0827-44FA-ADED-A1780B896A1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224023" y="4231317"/>
                <a:ext cx="2286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TREŚCI WYKŁADÓW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/>
              <a:t>Analiza korelacji i regresji. Korelacja wielowymiarowa. Dobór zmiennych objaśniających. </a:t>
            </a:r>
          </a:p>
          <a:p>
            <a:r>
              <a:rPr lang="pl-PL" dirty="0"/>
              <a:t>Podstawowe pojęcia optymalizacji. Zagadnienie transportowe i sieci przepływowe.</a:t>
            </a:r>
          </a:p>
          <a:p>
            <a:r>
              <a:rPr lang="pl-PL" dirty="0"/>
              <a:t>Optymalizacja wielokryterialna. Podstawy teorii gier.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TREŚCI ĆWICZEŃ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/>
              <a:t>Podstawowe pojęcia statystyki opisowej. </a:t>
            </a:r>
          </a:p>
          <a:p>
            <a:r>
              <a:rPr lang="pl-PL" dirty="0"/>
              <a:t>Rozkład normalny – model rozkładu typowej populacji. Reguła 3 sigma. </a:t>
            </a:r>
          </a:p>
          <a:p>
            <a:r>
              <a:rPr lang="pl-PL" dirty="0"/>
              <a:t>Hipotezy statystyczne, testy zgodności.</a:t>
            </a:r>
          </a:p>
          <a:p>
            <a:r>
              <a:rPr lang="pl-PL" dirty="0"/>
              <a:t>Wyznaczanie prostej regresji. Modele regresji sprowadzalne do postaci liniowej. Wyznaczanie trendu. Prognozowanie na podstawie modelu trendu.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TREŚCI ĆWICZEŃ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/>
              <a:t>Wyznaczanie modelu regresji wielowymiarowej. Dobór zmiennych objaśniających. </a:t>
            </a:r>
          </a:p>
          <a:p>
            <a:r>
              <a:rPr lang="pl-PL" dirty="0"/>
              <a:t>Zadania optymalizacyjne – zastosowanie </a:t>
            </a:r>
            <a:r>
              <a:rPr lang="pl-PL" dirty="0" err="1"/>
              <a:t>Solvera</a:t>
            </a:r>
            <a:r>
              <a:rPr lang="pl-PL" dirty="0"/>
              <a:t>. Zagadnienie transportowe i sieci przepływowe.</a:t>
            </a:r>
          </a:p>
          <a:p>
            <a:r>
              <a:rPr lang="pl-PL" dirty="0"/>
              <a:t>Gry dwuosobowe o sumie 0. Gry z naturą.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/>
              <a:t>LITERATURA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125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b="1" dirty="0"/>
              <a:t>LITERATURA PODSTAWOWA</a:t>
            </a:r>
            <a:endParaRPr lang="pl-PL" dirty="0"/>
          </a:p>
          <a:p>
            <a:r>
              <a:rPr lang="pl-PL" dirty="0" err="1"/>
              <a:t>M.Gruszczyński</a:t>
            </a:r>
            <a:r>
              <a:rPr lang="pl-PL" dirty="0"/>
              <a:t>, </a:t>
            </a:r>
            <a:r>
              <a:rPr lang="pl-PL" dirty="0" err="1"/>
              <a:t>T.Kuszewski</a:t>
            </a:r>
            <a:r>
              <a:rPr lang="pl-PL" dirty="0"/>
              <a:t>, </a:t>
            </a:r>
            <a:r>
              <a:rPr lang="pl-PL" dirty="0" err="1"/>
              <a:t>M.Podgórska</a:t>
            </a:r>
            <a:r>
              <a:rPr lang="pl-PL" dirty="0"/>
              <a:t>, 2009r., "Ekonometria i badania operacyjne", wyd. PWN, </a:t>
            </a:r>
          </a:p>
          <a:p>
            <a:r>
              <a:rPr lang="pl-PL" dirty="0" err="1"/>
              <a:t>A.Stachurski</a:t>
            </a:r>
            <a:r>
              <a:rPr lang="pl-PL" dirty="0"/>
              <a:t>, A. Wierzbicki, 1999r., "Podstawy optymalizacji", wyd. Oficyna Wydawnicza PW, </a:t>
            </a:r>
          </a:p>
          <a:p>
            <a:r>
              <a:rPr lang="pl-PL" dirty="0" err="1"/>
              <a:t>P.D.Straffin</a:t>
            </a:r>
            <a:r>
              <a:rPr lang="pl-PL" dirty="0"/>
              <a:t>, 2004r., "Teoria gier", wyd. Scholar, </a:t>
            </a:r>
          </a:p>
          <a:p>
            <a:r>
              <a:rPr lang="pl-PL" dirty="0"/>
              <a:t>Bożena Staruch</a:t>
            </a:r>
            <a:r>
              <a:rPr lang="pl-PL"/>
              <a:t>, 2026r</a:t>
            </a:r>
            <a:r>
              <a:rPr lang="pl-PL" dirty="0"/>
              <a:t>., "Matematyczne Modelowanie Systemów", wyd. wykład autorski w formie elektronicznej.</a:t>
            </a:r>
          </a:p>
          <a:p>
            <a:endParaRPr lang="pl-PL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/>
              <a:t>LITERATURA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125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l-PL" b="1" dirty="0"/>
              <a:t>LITERATURA UZUPEŁNIAJĄCA</a:t>
            </a:r>
            <a:endParaRPr lang="pl-PL" dirty="0"/>
          </a:p>
          <a:p>
            <a:r>
              <a:rPr lang="pl-PL" dirty="0"/>
              <a:t>L. von </a:t>
            </a:r>
            <a:r>
              <a:rPr lang="pl-PL" dirty="0" err="1"/>
              <a:t>Bertalanffy</a:t>
            </a:r>
            <a:r>
              <a:rPr lang="pl-PL" dirty="0"/>
              <a:t>, 1984r., "Ogólna Teoria Systemów", wyd. PWN, </a:t>
            </a:r>
          </a:p>
          <a:p>
            <a:r>
              <a:rPr lang="pl-PL" dirty="0" err="1"/>
              <a:t>I.Stewart</a:t>
            </a:r>
            <a:r>
              <a:rPr lang="pl-PL" dirty="0"/>
              <a:t>, 1994r., "Czy Bóg gra w kości? Nowa matematyka chaosu.", wyd. PWN, </a:t>
            </a:r>
          </a:p>
          <a:p>
            <a:r>
              <a:rPr lang="pl-PL" dirty="0" err="1"/>
              <a:t>R.Thom</a:t>
            </a:r>
            <a:r>
              <a:rPr lang="pl-PL" dirty="0"/>
              <a:t>, 1991r., "Parabole i katastrofy. Rozmowy o matematyce, nauce i filozofii", wyd. PIW, </a:t>
            </a:r>
          </a:p>
          <a:p>
            <a:pPr marL="0" indent="0">
              <a:buNone/>
            </a:pPr>
            <a:endParaRPr lang="pl-PL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1091</TotalTime>
  <Words>599</Words>
  <Application>Microsoft Office PowerPoint</Application>
  <PresentationFormat>Pokaz na ekranie (4:3)</PresentationFormat>
  <Paragraphs>74</Paragraphs>
  <Slides>13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13</vt:i4>
      </vt:variant>
    </vt:vector>
  </HeadingPairs>
  <TitlesOfParts>
    <vt:vector size="18" baseType="lpstr">
      <vt:lpstr>-apple-system</vt:lpstr>
      <vt:lpstr>Arial</vt:lpstr>
      <vt:lpstr>Calibri</vt:lpstr>
      <vt:lpstr>Cambria Math</vt:lpstr>
      <vt:lpstr>Motyw pakietu Office</vt:lpstr>
      <vt:lpstr>MATEMATYCZNE MODELOWANIE SYSTEMÓW</vt:lpstr>
      <vt:lpstr>Informacje ogólne</vt:lpstr>
      <vt:lpstr>Komunikacja</vt:lpstr>
      <vt:lpstr>Komunikacja</vt:lpstr>
      <vt:lpstr>Zaliczenie przedmiotu</vt:lpstr>
      <vt:lpstr>Zaliczenie przedmiotu</vt:lpstr>
      <vt:lpstr>Zaliczenie przedmiotu</vt:lpstr>
      <vt:lpstr>TREŚCI WYKŁADÓW</vt:lpstr>
      <vt:lpstr>TREŚCI WYKŁADÓW</vt:lpstr>
      <vt:lpstr>TREŚCI ĆWICZEŃ</vt:lpstr>
      <vt:lpstr>TREŚCI ĆWICZEŃ</vt:lpstr>
      <vt:lpstr>LITERATURA</vt:lpstr>
      <vt:lpstr>LITERATURA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MMS</dc:title>
  <dc:creator>BOZENA</dc:creator>
  <cp:lastModifiedBy>Bozena Staruch</cp:lastModifiedBy>
  <cp:revision>25</cp:revision>
  <dcterms:created xsi:type="dcterms:W3CDTF">2012-10-02T16:52:30Z</dcterms:created>
  <dcterms:modified xsi:type="dcterms:W3CDTF">2026-02-23T15:53:42Z</dcterms:modified>
</cp:coreProperties>
</file>